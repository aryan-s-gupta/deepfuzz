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97b5f14d67744e7" /><Relationship Type="http://schemas.openxmlformats.org/officeDocument/2006/relationships/extended-properties" Target="/docProps/app.xml" Id="R20f21ed035534c69" /><Relationship Type="http://schemas.openxmlformats.org/officeDocument/2006/relationships/officeDocument" Target="/ppt/presentation.xml" Id="R52f6045d3504467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0a6240539be4e7d"/>
  </p:sldMasterIdLst>
  <p:notesMasterIdLst>
    <p:notesMasterId xmlns:r="http://schemas.openxmlformats.org/officeDocument/2006/relationships" r:id="R2ca1bd532bb142b5"/>
  </p:notesMasterIdLst>
  <p:sldIdLst>
    <p:sldId xmlns:r="http://schemas.openxmlformats.org/officeDocument/2006/relationships" id="256" r:id="R0112e342cb6c4be8"/>
  </p:sldIdLst>
  <p:sldSz cx="15119318" cy="10691813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a6240539be4e7d" /><Relationship Type="http://schemas.openxmlformats.org/officeDocument/2006/relationships/theme" Target="/ppt/theme/theme1.xml" Id="R05e95f03bca8459a" /><Relationship Type="http://schemas.openxmlformats.org/officeDocument/2006/relationships/notesMaster" Target="/ppt/notesMasters/notesMaster1.xml" Id="R2ca1bd532bb142b5" /><Relationship Type="http://schemas.openxmlformats.org/officeDocument/2006/relationships/presProps" Target="/ppt/presProps.xml" Id="R2d1ee53aebfc45bb" /><Relationship Type="http://schemas.openxmlformats.org/officeDocument/2006/relationships/viewProps" Target="/ppt/viewProps.xml" Id="R2235115d460d4de2" /><Relationship Type="http://schemas.openxmlformats.org/officeDocument/2006/relationships/tableStyles" Target="/ppt/tableStyles.xml" Id="R75d30d226c30400c" /><Relationship Type="http://schemas.openxmlformats.org/officeDocument/2006/relationships/slide" Target="/ppt/slides/slide1.xml" Id="R0112e342cb6c4be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53f851f0ea61496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fef80ff0f334bbb" /><Relationship Type="http://schemas.openxmlformats.org/officeDocument/2006/relationships/notesMaster" Target="/ppt/notesMasters/notesMaster1.xml" Id="R5e203b6766184fb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872106aef643b7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eff4755210b345df" /><Relationship Type="http://schemas.openxmlformats.org/officeDocument/2006/relationships/slideLayout" Target="/ppt/slideLayouts/slideLayout2.xml" Id="R5c986d36a21246b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c986d36a21246b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337b8ce475f4d9d" /><Relationship Type="http://schemas.openxmlformats.org/officeDocument/2006/relationships/image" Target="/ppt/media/image.png" Id="R258ba677347847f9" /><Relationship Type="http://schemas.openxmlformats.org/officeDocument/2006/relationships/image" Target="/ppt/media/image2.png" Id="Rb9889a97b73f479b" /><Relationship Type="http://schemas.openxmlformats.org/officeDocument/2006/relationships/image" Target="/ppt/media/image3.png" Id="Rad4087a6792347a9" /><Relationship Type="http://schemas.openxmlformats.org/officeDocument/2006/relationships/image" Target="/ppt/media/image4.png" Id="R54cb009f9306488b" /><Relationship Type="http://schemas.openxmlformats.org/officeDocument/2006/relationships/image" Target="/ppt/media/image5.png" Id="Rbdaa06756d5c4833" /><Relationship Type="http://schemas.openxmlformats.org/officeDocument/2006/relationships/image" Target="/ppt/media/image6.png" Id="R7fee4650d2fd4b10" /><Relationship Type="http://schemas.openxmlformats.org/officeDocument/2006/relationships/notesSlide" Target="/ppt/notesSlides/notesSlide1.xml" Id="R98af0e199abf4b3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C1623FF-5E63-4AED-B4C6-B78A8A252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119318" cy="10691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73641B-0376-471F-A53D-A489A15E9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119318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6BA519-D318-4E99-8C03-D31A9CE02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24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8281A1-C872-47EE-B98F-C2BBC8D70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90500"/>
            <a:ext cx="113823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51247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51247A"/>
                </a:solidFill>
                <a:latin typeface="Arial"/>
                <a:ea typeface="Arial"/>
                <a:cs typeface="Arial"/>
              </a:rPr>
              <a:t>DeepFuzz: Documentation-Driven Fuzz Testing for Deep-Learning APIs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E418CF-F0D9-49E2-B5EA-9E73F4F15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581025"/>
            <a:ext cx="11191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1D1A2F"/>
                </a:solidFill>
                <a:latin typeface="Arial"/>
                <a:ea typeface="Arial"/>
                <a:cs typeface="Arial"/>
              </a:defRPr>
            </a:pPr>
            <a:r>
              <a:rPr sz="930" b="0">
                <a:solidFill>
                  <a:srgbClr val="1D1A2F"/>
                </a:solidFill>
                <a:latin typeface="Arial"/>
                <a:ea typeface="Arial"/>
                <a:cs typeface="Arial"/>
              </a:rPr>
              <a:t>From API documentation to executable seeds, generated tests, coverage evidence, and bug triage for JAX, TensorFlow, and PyTorch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1810B0-F9C4-4C3A-9C82-C5A4FC237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81915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8125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8125A"/>
                </a:solidFill>
                <a:latin typeface="Arial"/>
                <a:ea typeface="Arial"/>
                <a:cs typeface="Arial"/>
              </a:rPr>
              <a:t>Aryan Gupta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7B81D7-81BE-4AC7-B9BD-4F69EF60A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838200"/>
            <a:ext cx="571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5C5668"/>
                </a:solidFill>
                <a:latin typeface="Arial"/>
                <a:ea typeface="Arial"/>
                <a:cs typeface="Arial"/>
              </a:defRPr>
            </a:pPr>
            <a:r>
              <a:rPr sz="765" b="0">
                <a:solidFill>
                  <a:srgbClr val="5C5668"/>
                </a:solidFill>
                <a:latin typeface="Arial"/>
                <a:ea typeface="Arial"/>
                <a:cs typeface="Arial"/>
              </a:rPr>
              <a:t>UQ School of Electrical Engineering and Computer Science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7B0B6C-347B-42BA-9A33-91B4D819B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3375" y="190500"/>
            <a:ext cx="29051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D"/>
          </a:solidFill>
          <a:ln xmlns:a="http://schemas.openxmlformats.org/drawingml/2006/main" w="10478">
            <a:solidFill>
              <a:srgbClr val="51247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40B8D2-4DC5-43DA-B38C-35E0AE1AD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276225"/>
            <a:ext cx="26765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1247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1247A"/>
                </a:solidFill>
                <a:latin typeface="Arial"/>
                <a:ea typeface="Arial"/>
                <a:cs typeface="Arial"/>
              </a:rPr>
              <a:t>Poster claim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2BF363-E0C0-4837-8B13-DD2AB4DB9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485775"/>
            <a:ext cx="2676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1D1A2F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1D1A2F"/>
                </a:solidFill>
                <a:latin typeface="Arial"/>
                <a:ea typeface="Arial"/>
                <a:cs typeface="Arial"/>
              </a:rPr>
              <a:t>DeepFuzz turns natural-language API documentation into reproducible fuzzing artefacts: specs, seeds, pytest files, coverage reports, and strict triage evidence.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C2A186-93E8-4C4F-B407-5062436E0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200150"/>
            <a:ext cx="27336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51247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FE965B-DB1F-406D-841A-9219E772F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66825"/>
            <a:ext cx="25431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1247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1247A"/>
                </a:solidFill>
                <a:latin typeface="Arial"/>
                <a:ea typeface="Arial"/>
                <a:cs typeface="Arial"/>
              </a:rPr>
              <a:t>1,992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D35897-D75E-4BB8-9179-A74EAC0D7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95425"/>
            <a:ext cx="25431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85" b="0">
                <a:solidFill>
                  <a:srgbClr val="5C5668"/>
                </a:solidFill>
                <a:latin typeface="Arial"/>
                <a:ea typeface="Arial"/>
                <a:cs typeface="Arial"/>
              </a:defRPr>
            </a:pPr>
            <a:r>
              <a:rPr sz="585" b="0">
                <a:solidFill>
                  <a:srgbClr val="5C5668"/>
                </a:solidFill>
                <a:latin typeface="Arial"/>
                <a:ea typeface="Arial"/>
                <a:cs typeface="Arial"/>
              </a:rPr>
              <a:t>accepted documentation APIs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64CCAD-B019-425A-A059-0AF77C030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200150"/>
            <a:ext cx="27336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77E8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C74A6E-B878-4F8A-9AD6-9B54A89BE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266825"/>
            <a:ext cx="25431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7E8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7E89"/>
                </a:solidFill>
                <a:latin typeface="Arial"/>
                <a:ea typeface="Arial"/>
                <a:cs typeface="Arial"/>
              </a:rPr>
              <a:t>1,407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6F3F20-1D5E-4BD3-AB5F-D8C76B7F9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495425"/>
            <a:ext cx="25431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85" b="0">
                <a:solidFill>
                  <a:srgbClr val="5C5668"/>
                </a:solidFill>
                <a:latin typeface="Arial"/>
                <a:ea typeface="Arial"/>
                <a:cs typeface="Arial"/>
              </a:defRPr>
            </a:pPr>
            <a:r>
              <a:rPr sz="585" b="0">
                <a:solidFill>
                  <a:srgbClr val="5C5668"/>
                </a:solidFill>
                <a:latin typeface="Arial"/>
                <a:ea typeface="Arial"/>
                <a:cs typeface="Arial"/>
              </a:rPr>
              <a:t>frozen generated pytest tests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568E9E-CF8D-4A53-9932-E8B966778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200150"/>
            <a:ext cx="27336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A9D8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A4879A-CEDA-4206-A733-BB10B7C29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266825"/>
            <a:ext cx="25431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A9D8F"/>
                </a:solidFill>
                <a:latin typeface="Arial"/>
                <a:ea typeface="Arial"/>
                <a:cs typeface="Arial"/>
              </a:rPr>
              <a:t>12,383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FEA785-9CB6-4D38-92A5-06CBDD868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495425"/>
            <a:ext cx="25431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85" b="0">
                <a:solidFill>
                  <a:srgbClr val="5C5668"/>
                </a:solidFill>
                <a:latin typeface="Arial"/>
                <a:ea typeface="Arial"/>
                <a:cs typeface="Arial"/>
              </a:defRPr>
            </a:pPr>
            <a:r>
              <a:rPr sz="585" b="0">
                <a:solidFill>
                  <a:srgbClr val="5C5668"/>
                </a:solidFill>
                <a:latin typeface="Arial"/>
                <a:ea typeface="Arial"/>
                <a:cs typeface="Arial"/>
              </a:rPr>
              <a:t>valid generated programs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3152F2-B1FB-4A65-A48D-13E952A29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200150"/>
            <a:ext cx="27336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83A4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2BE972-E6AB-4834-9107-6019A31A3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266825"/>
            <a:ext cx="25431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B83A4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83A4B"/>
                </a:solidFill>
                <a:latin typeface="Arial"/>
                <a:ea typeface="Arial"/>
                <a:cs typeface="Arial"/>
              </a:rPr>
              <a:t>190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1AF148-AD7F-48FC-B2FC-7FEBE03C5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495425"/>
            <a:ext cx="25431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85" b="0">
                <a:solidFill>
                  <a:srgbClr val="5C5668"/>
                </a:solidFill>
                <a:latin typeface="Arial"/>
                <a:ea typeface="Arial"/>
                <a:cs typeface="Arial"/>
              </a:defRPr>
            </a:pPr>
            <a:r>
              <a:rPr sz="585" b="0">
                <a:solidFill>
                  <a:srgbClr val="5C5668"/>
                </a:solidFill>
                <a:latin typeface="Arial"/>
                <a:ea typeface="Arial"/>
                <a:cs typeface="Arial"/>
              </a:rPr>
              <a:t>candidate implementation-bug records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23355F-64FA-4250-BE14-791A1CFEE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9125" y="1200150"/>
            <a:ext cx="26384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76F5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8E5BFC-B084-48E8-9F17-F5D46E327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4375" y="1266825"/>
            <a:ext cx="24479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76F51"/>
                </a:solidFill>
                <a:latin typeface="Arial"/>
                <a:ea typeface="Arial"/>
                <a:cs typeface="Arial"/>
              </a:rPr>
              <a:t>1,209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8890F6-DC92-4A3C-82D5-21A356805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4375" y="1495425"/>
            <a:ext cx="24479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85" b="0">
                <a:solidFill>
                  <a:srgbClr val="5C5668"/>
                </a:solidFill>
                <a:latin typeface="Arial"/>
                <a:ea typeface="Arial"/>
                <a:cs typeface="Arial"/>
              </a:defRPr>
            </a:pPr>
            <a:r>
              <a:rPr sz="585" b="0">
                <a:solidFill>
                  <a:srgbClr val="5C5668"/>
                </a:solidFill>
                <a:latin typeface="Arial"/>
                <a:ea typeface="Arial"/>
                <a:cs typeface="Arial"/>
              </a:rPr>
              <a:t>device-oracle mismatch records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8ba677347847f9"/>
          <a:stretch xmlns:a="http://schemas.openxmlformats.org/drawingml/2006/main"/>
        </p:blipFill>
        <p:spPr>
          <a:xfrm xmlns:a="http://schemas.openxmlformats.org/drawingml/2006/main">
            <a:off x="1638980" y="1828800"/>
            <a:ext cx="11838214" cy="2209800"/>
          </a:xfrm>
          <a:prstGeom xmlns:a="http://schemas.openxmlformats.org/drawingml/2006/main" prst="rect">
            <a:avLst/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CB1EE1E-EBFA-476E-ADA0-DB36ECF25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248150"/>
            <a:ext cx="3143250" cy="1266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FE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E821285-3D73-43AD-B26F-643556317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248150"/>
            <a:ext cx="66675" cy="1266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24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4E509A8-7848-4E56-8964-004FDF840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343400"/>
            <a:ext cx="2876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124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1247A"/>
                </a:solidFill>
                <a:latin typeface="Arial"/>
                <a:ea typeface="Arial"/>
                <a:cs typeface="Arial"/>
              </a:rPr>
              <a:t>Motivation / Problem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A3D551E-9001-4510-8935-DC22485EF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81525"/>
            <a:ext cx="2781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1D1A2F"/>
                </a:solidFill>
                <a:latin typeface="Arial"/>
                <a:ea typeface="Arial"/>
                <a:cs typeface="Arial"/>
              </a:defRPr>
            </a:pPr>
            <a:r>
              <a:rPr sz="765" b="0">
                <a:solidFill>
                  <a:srgbClr val="1D1A2F"/>
                </a:solidFill>
                <a:latin typeface="Arial"/>
                <a:ea typeface="Arial"/>
                <a:cs typeface="Arial"/>
              </a:rPr>
              <a:t>- Deep-learning APIs are large, fast moving, and hard to test manually.</a:t>
            </a:r>
          </a:p>
          <a:p xmlns:a="http://schemas.openxmlformats.org/drawingml/2006/main">
            <a:pPr algn="l">
              <a:defRPr sz="765" b="0">
                <a:solidFill>
                  <a:srgbClr val="1D1A2F"/>
                </a:solidFill>
                <a:latin typeface="Arial"/>
                <a:ea typeface="Arial"/>
                <a:cs typeface="Arial"/>
              </a:defRPr>
            </a:pPr>
            <a:r>
              <a:rPr sz="765" b="0">
                <a:solidFill>
                  <a:srgbClr val="1D1A2F"/>
                </a:solidFill>
                <a:latin typeface="Arial"/>
                <a:ea typeface="Arial"/>
                <a:cs typeface="Arial"/>
              </a:rPr>
              <a:t>- Documentation captures intended behaviour but is not directly executable.</a:t>
            </a:r>
          </a:p>
          <a:p xmlns:a="http://schemas.openxmlformats.org/drawingml/2006/main">
            <a:pPr algn="l">
              <a:defRPr sz="765" b="0">
                <a:solidFill>
                  <a:srgbClr val="1D1A2F"/>
                </a:solidFill>
                <a:latin typeface="Arial"/>
                <a:ea typeface="Arial"/>
                <a:cs typeface="Arial"/>
              </a:defRPr>
            </a:pPr>
            <a:r>
              <a:rPr sz="765" b="0">
                <a:solidFill>
                  <a:srgbClr val="1D1A2F"/>
                </a:solidFill>
                <a:latin typeface="Arial"/>
                <a:ea typeface="Arial"/>
                <a:cs typeface="Arial"/>
              </a:rPr>
              <a:t>- Manual examples rarely exercise edge values, invalid inputs, or device differences.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F1B00B6-A982-41C6-B728-74BD1F250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638800"/>
            <a:ext cx="314325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FE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2CB5D7C-4057-41FA-A244-5B06F7AA6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638800"/>
            <a:ext cx="666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E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17C206B-A6A8-4A2A-A2B5-853E5D80C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734050"/>
            <a:ext cx="2876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7E8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7E89"/>
                </a:solidFill>
                <a:latin typeface="Arial"/>
                <a:ea typeface="Arial"/>
                <a:cs typeface="Arial"/>
              </a:rPr>
              <a:t>Research Aim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1E56968-D13C-47FF-A1AE-2E99D9CFD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72175"/>
            <a:ext cx="2781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1D1A2F"/>
                </a:solidFill>
                <a:latin typeface="Arial"/>
                <a:ea typeface="Arial"/>
                <a:cs typeface="Arial"/>
              </a:defRPr>
            </a:pPr>
            <a:r>
              <a:rPr sz="780" b="0">
                <a:solidFill>
                  <a:srgbClr val="1D1A2F"/>
                </a:solidFill>
                <a:latin typeface="Arial"/>
                <a:ea typeface="Arial"/>
                <a:cs typeface="Arial"/>
              </a:rPr>
              <a:t>Convert public API documentation into deterministic fuzz tests and auditable evidence across JAX, TensorFlow, and PyTorch.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B871EBD-00C8-4D29-B1C7-E8589CEB8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705600"/>
            <a:ext cx="314325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FE6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B799C95-DBE8-4E00-9504-952646FC5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705600"/>
            <a:ext cx="666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D32CFC9-4A42-4FE6-8A65-61A28C3C8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6800850"/>
            <a:ext cx="2876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76F51"/>
                </a:solidFill>
                <a:latin typeface="Arial"/>
                <a:ea typeface="Arial"/>
                <a:cs typeface="Arial"/>
              </a:rPr>
              <a:t>Why Existing Testing Is Hard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A501410-6B54-4E98-AF03-29652A6B4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038975"/>
            <a:ext cx="27813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1D1A2F"/>
                </a:solidFill>
                <a:latin typeface="Arial"/>
                <a:ea typeface="Arial"/>
                <a:cs typeface="Arial"/>
              </a:defRPr>
            </a:pPr>
            <a:r>
              <a:rPr sz="765" b="0">
                <a:solidFill>
                  <a:srgbClr val="1D1A2F"/>
                </a:solidFill>
                <a:latin typeface="Arial"/>
                <a:ea typeface="Arial"/>
                <a:cs typeface="Arial"/>
              </a:rPr>
              <a:t>- Library docs mix prose, examples, constraints, and partial error behaviour.</a:t>
            </a:r>
          </a:p>
          <a:p xmlns:a="http://schemas.openxmlformats.org/drawingml/2006/main">
            <a:pPr algn="l">
              <a:defRPr sz="765" b="0">
                <a:solidFill>
                  <a:srgbClr val="1D1A2F"/>
                </a:solidFill>
                <a:latin typeface="Arial"/>
                <a:ea typeface="Arial"/>
                <a:cs typeface="Arial"/>
              </a:defRPr>
            </a:pPr>
            <a:r>
              <a:rPr sz="765" b="0">
                <a:solidFill>
                  <a:srgbClr val="1D1A2F"/>
                </a:solidFill>
                <a:latin typeface="Arial"/>
                <a:ea typeface="Arial"/>
                <a:cs typeface="Arial"/>
              </a:rPr>
              <a:t>- Executability depends on installed versions, tensor types, shapes, and runtime devices.</a:t>
            </a:r>
          </a:p>
          <a:p xmlns:a="http://schemas.openxmlformats.org/drawingml/2006/main">
            <a:pPr algn="l">
              <a:defRPr sz="765" b="0">
                <a:solidFill>
                  <a:srgbClr val="1D1A2F"/>
                </a:solidFill>
                <a:latin typeface="Arial"/>
                <a:ea typeface="Arial"/>
                <a:cs typeface="Arial"/>
              </a:defRPr>
            </a:pPr>
            <a:r>
              <a:rPr sz="765" b="0">
                <a:solidFill>
                  <a:srgbClr val="1D1A2F"/>
                </a:solidFill>
                <a:latin typeface="Arial"/>
                <a:ea typeface="Arial"/>
                <a:cs typeface="Arial"/>
              </a:rPr>
              <a:t>- Whole-library coverage under binary wheels hides the behaviour of selected APIs.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BE34253-5FE5-4141-A060-6407BC484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8115300"/>
            <a:ext cx="31432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FE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CD95F58-C491-4FCE-A8EC-BE179E75E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8115300"/>
            <a:ext cx="66675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CB8283D-82C9-4D70-8B8F-304ADDBBC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8210550"/>
            <a:ext cx="2876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A9D8F"/>
                </a:solidFill>
                <a:latin typeface="Arial"/>
                <a:ea typeface="Arial"/>
                <a:cs typeface="Arial"/>
              </a:rPr>
              <a:t>Innovation And Contribution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0FE5330-4A9E-4C7B-AEAD-C4D20F949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8448675"/>
            <a:ext cx="27813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1D1A2F"/>
                </a:solidFill>
                <a:latin typeface="Arial"/>
                <a:ea typeface="Arial"/>
                <a:cs typeface="Arial"/>
              </a:defRPr>
            </a:pPr>
            <a:r>
              <a:rPr sz="690" b="0">
                <a:solidFill>
                  <a:srgbClr val="1D1A2F"/>
                </a:solidFill>
                <a:latin typeface="Arial"/>
                <a:ea typeface="Arial"/>
                <a:cs typeface="Arial"/>
              </a:rPr>
              <a:t>- Documentation-first, runtime-grounded test generation.</a:t>
            </a:r>
          </a:p>
          <a:p xmlns:a="http://schemas.openxmlformats.org/drawingml/2006/main">
            <a:pPr algn="l">
              <a:defRPr sz="690" b="0">
                <a:solidFill>
                  <a:srgbClr val="1D1A2F"/>
                </a:solidFill>
                <a:latin typeface="Arial"/>
                <a:ea typeface="Arial"/>
                <a:cs typeface="Arial"/>
              </a:defRPr>
            </a:pPr>
            <a:r>
              <a:rPr sz="690" b="0">
                <a:solidFill>
                  <a:srgbClr val="1D1A2F"/>
                </a:solidFill>
                <a:latin typeface="Arial"/>
                <a:ea typeface="Arial"/>
                <a:cs typeface="Arial"/>
              </a:rPr>
              <a:t>- Multi-stage validation and local LLM repair before fuzzing.</a:t>
            </a:r>
          </a:p>
          <a:p xmlns:a="http://schemas.openxmlformats.org/drawingml/2006/main">
            <a:pPr algn="l">
              <a:defRPr sz="690" b="0">
                <a:solidFill>
                  <a:srgbClr val="1D1A2F"/>
                </a:solidFill>
                <a:latin typeface="Arial"/>
                <a:ea typeface="Arial"/>
                <a:cs typeface="Arial"/>
              </a:defRPr>
            </a:pPr>
            <a:r>
              <a:rPr sz="690" b="0">
                <a:solidFill>
                  <a:srgbClr val="1D1A2F"/>
                </a:solidFill>
                <a:latin typeface="Arial"/>
                <a:ea typeface="Arial"/>
                <a:cs typeface="Arial"/>
              </a:rPr>
              <a:t>- Reproducible run manifests and per-API artefact trails.</a:t>
            </a:r>
          </a:p>
          <a:p xmlns:a="http://schemas.openxmlformats.org/drawingml/2006/main">
            <a:pPr algn="l">
              <a:defRPr sz="690" b="0">
                <a:solidFill>
                  <a:srgbClr val="1D1A2F"/>
                </a:solidFill>
                <a:latin typeface="Arial"/>
                <a:ea typeface="Arial"/>
                <a:cs typeface="Arial"/>
              </a:defRPr>
            </a:pPr>
            <a:r>
              <a:rPr sz="690" b="0">
                <a:solidFill>
                  <a:srgbClr val="1D1A2F"/>
                </a:solidFill>
                <a:latin typeface="Arial"/>
                <a:ea typeface="Arial"/>
                <a:cs typeface="Arial"/>
              </a:rPr>
              <a:t>- Selected-function coverage avoids misleading whole-library claims.</a:t>
            </a:r>
          </a:p>
          <a:p xmlns:a="http://schemas.openxmlformats.org/drawingml/2006/main">
            <a:pPr algn="l">
              <a:defRPr sz="690" b="0">
                <a:solidFill>
                  <a:srgbClr val="1D1A2F"/>
                </a:solidFill>
                <a:latin typeface="Arial"/>
                <a:ea typeface="Arial"/>
                <a:cs typeface="Arial"/>
              </a:defRPr>
            </a:pPr>
            <a:r>
              <a:rPr sz="690" b="0">
                <a:solidFill>
                  <a:srgbClr val="1D1A2F"/>
                </a:solidFill>
                <a:latin typeface="Arial"/>
                <a:ea typeface="Arial"/>
                <a:cs typeface="Arial"/>
              </a:rPr>
              <a:t>- Strict triage separates bugs, doc mismatches, expected rejections, and pipeline failures.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266BFB4-FB9A-4869-8166-CE9B59245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248150"/>
            <a:ext cx="68580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FE6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61F04FD-4E7A-4E96-99A0-B535F2436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248150"/>
            <a:ext cx="66675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24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4054778-B4D2-41CF-A382-7516CBA27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4343400"/>
            <a:ext cx="6591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124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1247A"/>
                </a:solidFill>
                <a:latin typeface="Arial"/>
                <a:ea typeface="Arial"/>
                <a:cs typeface="Arial"/>
              </a:rPr>
              <a:t>Results From Final Thesis Runs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8BF084F-2D4B-4309-A364-156F89DCA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552950"/>
            <a:ext cx="64293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53" b="0">
                <a:solidFill>
                  <a:srgbClr val="5C5668"/>
                </a:solidFill>
                <a:latin typeface="Arial"/>
                <a:ea typeface="Arial"/>
                <a:cs typeface="Arial"/>
              </a:defRPr>
            </a:pPr>
            <a:r>
              <a:rPr sz="653" b="0">
                <a:solidFill>
                  <a:srgbClr val="5C5668"/>
                </a:solidFill>
                <a:latin typeface="Arial"/>
                <a:ea typeface="Arial"/>
                <a:cs typeface="Arial"/>
              </a:rPr>
              <a:t>Source of truth: pipeline_runs/{jax,tensorflow,torch}/*-thesis-all and stage4/results/*-thesis-all-coverage.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AD2BDC2-EFDA-4AF5-ACAF-F24B25F76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810125"/>
            <a:ext cx="6553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24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F52A812-A46A-4B01-8052-A6CBD8E28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886325"/>
            <a:ext cx="1123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4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4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Library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AB69443-DA07-48BA-B1D0-6D7D08812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886325"/>
            <a:ext cx="552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4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4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Accepted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D2F42CC-29E2-4E2E-8D18-B75661A27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886325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4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4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Tests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8F21DCD-EF7A-4CA2-8920-1B47C4381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886325"/>
            <a:ext cx="6381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4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4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Base-valid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F0AB940-BBEF-4C83-A7F3-4DE538B39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4886325"/>
            <a:ext cx="552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4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4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API exec.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936A140-6E52-4A93-90DE-BEE20B8D4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4886325"/>
            <a:ext cx="72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4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4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Func cov.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BBEB99D-15BD-4109-B248-C844020DE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4886325"/>
            <a:ext cx="6762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4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4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Valid progs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EFEF0BE-F125-4FFA-BB6C-582AF8AF4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886325"/>
            <a:ext cx="5619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4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4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Cand. bugs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D5CBAA9-CFDD-4777-B62B-A7EAF0CD3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4886325"/>
            <a:ext cx="5619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4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4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Device mm.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03A3760-75F4-481A-AE5F-12CA493BC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114925"/>
            <a:ext cx="65532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8CFE6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1A5E10E-5563-4FD3-A228-C31A60FB3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229225"/>
            <a:ext cx="1123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1D1A2F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1D1A2F"/>
                </a:solidFill>
                <a:latin typeface="Arial"/>
                <a:ea typeface="Arial"/>
                <a:cs typeface="Arial"/>
              </a:rPr>
              <a:t>JAX 0.10.0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5755B55-E33A-4666-89CD-95B77126E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29225"/>
            <a:ext cx="552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70" b="0">
                <a:solidFill>
                  <a:srgbClr val="1D1A2F"/>
                </a:solidFill>
                <a:latin typeface="Arial"/>
                <a:ea typeface="Arial"/>
                <a:cs typeface="Arial"/>
              </a:defRPr>
            </a:pPr>
            <a:r>
              <a:rPr sz="570" b="0">
                <a:solidFill>
                  <a:srgbClr val="1D1A2F"/>
                </a:solidFill>
                <a:latin typeface="Arial"/>
                <a:ea typeface="Arial"/>
                <a:cs typeface="Arial"/>
              </a:rPr>
              <a:t>477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C1335C9-D34C-466D-BB70-40D2BA482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2922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70" b="0">
                <a:solidFill>
                  <a:srgbClr val="1D1A2F"/>
                </a:solidFill>
                <a:latin typeface="Arial"/>
                <a:ea typeface="Arial"/>
                <a:cs typeface="Arial"/>
              </a:defRPr>
            </a:pPr>
            <a:r>
              <a:rPr sz="570" b="0">
                <a:solidFill>
                  <a:srgbClr val="1D1A2F"/>
                </a:solidFill>
                <a:latin typeface="Arial"/>
                <a:ea typeface="Arial"/>
                <a:cs typeface="Arial"/>
              </a:rPr>
              <a:t>379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94FC89D-9A39-4B35-A613-9C84BAAE3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229225"/>
            <a:ext cx="6381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70" b="0">
                <a:solidFill>
                  <a:srgbClr val="1D1A2F"/>
                </a:solidFill>
                <a:latin typeface="Arial"/>
                <a:ea typeface="Arial"/>
                <a:cs typeface="Arial"/>
              </a:defRPr>
            </a:pPr>
            <a:r>
              <a:rPr sz="570" b="0">
                <a:solidFill>
                  <a:srgbClr val="1D1A2F"/>
                </a:solidFill>
                <a:latin typeface="Arial"/>
                <a:ea typeface="Arial"/>
                <a:cs typeface="Arial"/>
              </a:rPr>
              <a:t>476/476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4E918D8-6ADE-479A-8BAC-CB669FACA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5229225"/>
            <a:ext cx="552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70" b="0">
                <a:solidFill>
                  <a:srgbClr val="1D1A2F"/>
                </a:solidFill>
                <a:latin typeface="Arial"/>
                <a:ea typeface="Arial"/>
                <a:cs typeface="Arial"/>
              </a:defRPr>
            </a:pPr>
            <a:r>
              <a:rPr sz="570" b="0">
                <a:solidFill>
                  <a:srgbClr val="1D1A2F"/>
                </a:solidFill>
                <a:latin typeface="Arial"/>
                <a:ea typeface="Arial"/>
                <a:cs typeface="Arial"/>
              </a:rPr>
              <a:t>100.0%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FA18CA3-2899-4252-A9DE-F5D8FF29B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5229225"/>
            <a:ext cx="723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70" b="1">
                <a:solidFill>
                  <a:srgbClr val="1D1A2F"/>
                </a:solidFill>
                <a:latin typeface="Arial"/>
                <a:ea typeface="Arial"/>
                <a:cs typeface="Arial"/>
              </a:defRPr>
            </a:pPr>
            <a:r>
              <a:rPr sz="570" b="1">
                <a:solidFill>
                  <a:srgbClr val="1D1A2F"/>
                </a:solidFill>
                <a:latin typeface="Arial"/>
                <a:ea typeface="Arial"/>
                <a:cs typeface="Arial"/>
              </a:rPr>
              <a:t>52.3032%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F591B08-89DF-46D5-B657-615B936D5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5229225"/>
            <a:ext cx="6762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70" b="0">
                <a:solidFill>
                  <a:srgbClr val="1D1A2F"/>
                </a:solidFill>
                <a:latin typeface="Arial"/>
                <a:ea typeface="Arial"/>
                <a:cs typeface="Arial"/>
              </a:defRPr>
            </a:pPr>
            <a:r>
              <a:rPr sz="570" b="0">
                <a:solidFill>
                  <a:srgbClr val="1D1A2F"/>
                </a:solidFill>
                <a:latin typeface="Arial"/>
                <a:ea typeface="Arial"/>
                <a:cs typeface="Arial"/>
              </a:rPr>
              <a:t>3,421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24A6283-88CC-4CBC-A27F-0EBD9F822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229225"/>
            <a:ext cx="5619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70" b="0">
                <a:solidFill>
                  <a:srgbClr val="B83A4B"/>
                </a:solidFill>
                <a:latin typeface="Arial"/>
                <a:ea typeface="Arial"/>
                <a:cs typeface="Arial"/>
              </a:defRPr>
            </a:pPr>
            <a:r>
              <a:rPr sz="570" b="0">
                <a:solidFill>
                  <a:srgbClr val="B83A4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1F4D0E5-94FB-47BD-882D-227EF4F26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5229225"/>
            <a:ext cx="5619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70" b="0">
                <a:solidFill>
                  <a:srgbClr val="B83A4B"/>
                </a:solidFill>
                <a:latin typeface="Arial"/>
                <a:ea typeface="Arial"/>
                <a:cs typeface="Arial"/>
              </a:defRPr>
            </a:pPr>
            <a:r>
              <a:rPr sz="570" b="0">
                <a:solidFill>
                  <a:srgbClr val="B83A4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0AE02AA-3279-45A2-BC07-EF7C9A0D1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543550"/>
            <a:ext cx="65532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FB"/>
          </a:solidFill>
          <a:ln xmlns:a="http://schemas.openxmlformats.org/drawingml/2006/main" w="4763">
            <a:solidFill>
              <a:srgbClr val="D8CFE6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2BEE94F-7657-4273-97B3-243FAA2A1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657850"/>
            <a:ext cx="1123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1D1A2F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1D1A2F"/>
                </a:solidFill>
                <a:latin typeface="Arial"/>
                <a:ea typeface="Arial"/>
                <a:cs typeface="Arial"/>
              </a:rPr>
              <a:t>TensorFlow 2.21.0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CCE56D2-CC94-48F8-A12D-820440C4A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657850"/>
            <a:ext cx="552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70" b="0">
                <a:solidFill>
                  <a:srgbClr val="1D1A2F"/>
                </a:solidFill>
                <a:latin typeface="Arial"/>
                <a:ea typeface="Arial"/>
                <a:cs typeface="Arial"/>
              </a:defRPr>
            </a:pPr>
            <a:r>
              <a:rPr sz="570" b="0">
                <a:solidFill>
                  <a:srgbClr val="1D1A2F"/>
                </a:solidFill>
                <a:latin typeface="Arial"/>
                <a:ea typeface="Arial"/>
                <a:cs typeface="Arial"/>
              </a:rPr>
              <a:t>922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549830E-15C1-415E-95F7-534D7DEED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65785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70" b="0">
                <a:solidFill>
                  <a:srgbClr val="1D1A2F"/>
                </a:solidFill>
                <a:latin typeface="Arial"/>
                <a:ea typeface="Arial"/>
                <a:cs typeface="Arial"/>
              </a:defRPr>
            </a:pPr>
            <a:r>
              <a:rPr sz="570" b="0">
                <a:solidFill>
                  <a:srgbClr val="1D1A2F"/>
                </a:solidFill>
                <a:latin typeface="Arial"/>
                <a:ea typeface="Arial"/>
                <a:cs typeface="Arial"/>
              </a:rPr>
              <a:t>705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F48A916-5FB2-4FFE-8B1C-C34E23235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657850"/>
            <a:ext cx="6381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70" b="0">
                <a:solidFill>
                  <a:srgbClr val="1D1A2F"/>
                </a:solidFill>
                <a:latin typeface="Arial"/>
                <a:ea typeface="Arial"/>
                <a:cs typeface="Arial"/>
              </a:defRPr>
            </a:pPr>
            <a:r>
              <a:rPr sz="570" b="0">
                <a:solidFill>
                  <a:srgbClr val="1D1A2F"/>
                </a:solidFill>
                <a:latin typeface="Arial"/>
                <a:ea typeface="Arial"/>
                <a:cs typeface="Arial"/>
              </a:rPr>
              <a:t>697/705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EE73D73-8109-4072-A5BB-33D7389DD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5657850"/>
            <a:ext cx="552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70" b="0">
                <a:solidFill>
                  <a:srgbClr val="1D1A2F"/>
                </a:solidFill>
                <a:latin typeface="Arial"/>
                <a:ea typeface="Arial"/>
                <a:cs typeface="Arial"/>
              </a:defRPr>
            </a:pPr>
            <a:r>
              <a:rPr sz="570" b="0">
                <a:solidFill>
                  <a:srgbClr val="1D1A2F"/>
                </a:solidFill>
                <a:latin typeface="Arial"/>
                <a:ea typeface="Arial"/>
                <a:cs typeface="Arial"/>
              </a:rPr>
              <a:t>98.8652%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F025D04B-7995-467A-AA7F-C094F5F18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5657850"/>
            <a:ext cx="723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70" b="1">
                <a:solidFill>
                  <a:srgbClr val="1D1A2F"/>
                </a:solidFill>
                <a:latin typeface="Arial"/>
                <a:ea typeface="Arial"/>
                <a:cs typeface="Arial"/>
              </a:defRPr>
            </a:pPr>
            <a:r>
              <a:rPr sz="570" b="1">
                <a:solidFill>
                  <a:srgbClr val="1D1A2F"/>
                </a:solidFill>
                <a:latin typeface="Arial"/>
                <a:ea typeface="Arial"/>
                <a:cs typeface="Arial"/>
              </a:rPr>
              <a:t>31.2415%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62A20C0-36BA-4545-B4E2-EC7F6F28A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5657850"/>
            <a:ext cx="6762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70" b="0">
                <a:solidFill>
                  <a:srgbClr val="1D1A2F"/>
                </a:solidFill>
                <a:latin typeface="Arial"/>
                <a:ea typeface="Arial"/>
                <a:cs typeface="Arial"/>
              </a:defRPr>
            </a:pPr>
            <a:r>
              <a:rPr sz="570" b="0">
                <a:solidFill>
                  <a:srgbClr val="1D1A2F"/>
                </a:solidFill>
                <a:latin typeface="Arial"/>
                <a:ea typeface="Arial"/>
                <a:cs typeface="Arial"/>
              </a:rPr>
              <a:t>6,866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C9BE6412-CED0-4DB1-9D67-B9545F00C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657850"/>
            <a:ext cx="5619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70" b="0">
                <a:solidFill>
                  <a:srgbClr val="B83A4B"/>
                </a:solidFill>
                <a:latin typeface="Arial"/>
                <a:ea typeface="Arial"/>
                <a:cs typeface="Arial"/>
              </a:defRPr>
            </a:pPr>
            <a:r>
              <a:rPr sz="570" b="0">
                <a:solidFill>
                  <a:srgbClr val="B83A4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009314A-C7DF-4FA3-88A3-8BAFFADE5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5657850"/>
            <a:ext cx="5619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70" b="0">
                <a:solidFill>
                  <a:srgbClr val="B83A4B"/>
                </a:solidFill>
                <a:latin typeface="Arial"/>
                <a:ea typeface="Arial"/>
                <a:cs typeface="Arial"/>
              </a:defRPr>
            </a:pPr>
            <a:r>
              <a:rPr sz="570" b="0">
                <a:solidFill>
                  <a:srgbClr val="B83A4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7D1FF683-4642-4CA9-954E-3AF89DA5C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972175"/>
            <a:ext cx="65532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8CFE6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D0F16E35-C147-4BBE-876C-3A95418AA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6086475"/>
            <a:ext cx="1123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1D1A2F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1D1A2F"/>
                </a:solidFill>
                <a:latin typeface="Arial"/>
                <a:ea typeface="Arial"/>
                <a:cs typeface="Arial"/>
              </a:rPr>
              <a:t>PyTorch 2.11.0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0102BC5A-2AF2-4A9E-9196-E47EC8080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6086475"/>
            <a:ext cx="552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70" b="0">
                <a:solidFill>
                  <a:srgbClr val="1D1A2F"/>
                </a:solidFill>
                <a:latin typeface="Arial"/>
                <a:ea typeface="Arial"/>
                <a:cs typeface="Arial"/>
              </a:defRPr>
            </a:pPr>
            <a:r>
              <a:rPr sz="570" b="0">
                <a:solidFill>
                  <a:srgbClr val="1D1A2F"/>
                </a:solidFill>
                <a:latin typeface="Arial"/>
                <a:ea typeface="Arial"/>
                <a:cs typeface="Arial"/>
              </a:rPr>
              <a:t>593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2F4922A-7081-495F-88B0-9606AFE4F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0864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70" b="0">
                <a:solidFill>
                  <a:srgbClr val="1D1A2F"/>
                </a:solidFill>
                <a:latin typeface="Arial"/>
                <a:ea typeface="Arial"/>
                <a:cs typeface="Arial"/>
              </a:defRPr>
            </a:pPr>
            <a:r>
              <a:rPr sz="570" b="0">
                <a:solidFill>
                  <a:srgbClr val="1D1A2F"/>
                </a:solidFill>
                <a:latin typeface="Arial"/>
                <a:ea typeface="Arial"/>
                <a:cs typeface="Arial"/>
              </a:rPr>
              <a:t>323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EDB84F66-03F5-4C72-800E-3580FE8EF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6086475"/>
            <a:ext cx="6381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70" b="0">
                <a:solidFill>
                  <a:srgbClr val="1D1A2F"/>
                </a:solidFill>
                <a:latin typeface="Arial"/>
                <a:ea typeface="Arial"/>
                <a:cs typeface="Arial"/>
              </a:defRPr>
            </a:pPr>
            <a:r>
              <a:rPr sz="570" b="0">
                <a:solidFill>
                  <a:srgbClr val="1D1A2F"/>
                </a:solidFill>
                <a:latin typeface="Arial"/>
                <a:ea typeface="Arial"/>
                <a:cs typeface="Arial"/>
              </a:rPr>
              <a:t>323/323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921F5A7E-3382-4520-835C-2650A7698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6086475"/>
            <a:ext cx="552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70" b="0">
                <a:solidFill>
                  <a:srgbClr val="1D1A2F"/>
                </a:solidFill>
                <a:latin typeface="Arial"/>
                <a:ea typeface="Arial"/>
                <a:cs typeface="Arial"/>
              </a:defRPr>
            </a:pPr>
            <a:r>
              <a:rPr sz="570" b="0">
                <a:solidFill>
                  <a:srgbClr val="1D1A2F"/>
                </a:solidFill>
                <a:latin typeface="Arial"/>
                <a:ea typeface="Arial"/>
                <a:cs typeface="Arial"/>
              </a:rPr>
              <a:t>100.0%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F1241A05-40A2-4E60-B926-5B634F5A5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6086475"/>
            <a:ext cx="723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70" b="1">
                <a:solidFill>
                  <a:srgbClr val="1D1A2F"/>
                </a:solidFill>
                <a:latin typeface="Arial"/>
                <a:ea typeface="Arial"/>
                <a:cs typeface="Arial"/>
              </a:defRPr>
            </a:pPr>
            <a:r>
              <a:rPr sz="570" b="1">
                <a:solidFill>
                  <a:srgbClr val="1D1A2F"/>
                </a:solidFill>
                <a:latin typeface="Arial"/>
                <a:ea typeface="Arial"/>
                <a:cs typeface="Arial"/>
              </a:rPr>
              <a:t>59.5745%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FA1EB196-4687-4E2E-BC9E-09BA5CA8E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6086475"/>
            <a:ext cx="6762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70" b="0">
                <a:solidFill>
                  <a:srgbClr val="1D1A2F"/>
                </a:solidFill>
                <a:latin typeface="Arial"/>
                <a:ea typeface="Arial"/>
                <a:cs typeface="Arial"/>
              </a:defRPr>
            </a:pPr>
            <a:r>
              <a:rPr sz="570" b="0">
                <a:solidFill>
                  <a:srgbClr val="1D1A2F"/>
                </a:solidFill>
                <a:latin typeface="Arial"/>
                <a:ea typeface="Arial"/>
                <a:cs typeface="Arial"/>
              </a:rPr>
              <a:t>2,096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18C3846C-381D-45A3-BC60-F840BD9AA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6086475"/>
            <a:ext cx="5619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70" b="0">
                <a:solidFill>
                  <a:srgbClr val="B83A4B"/>
                </a:solidFill>
                <a:latin typeface="Arial"/>
                <a:ea typeface="Arial"/>
                <a:cs typeface="Arial"/>
              </a:defRPr>
            </a:pPr>
            <a:r>
              <a:rPr sz="570" b="0">
                <a:solidFill>
                  <a:srgbClr val="B83A4B"/>
                </a:solidFill>
                <a:latin typeface="Arial"/>
                <a:ea typeface="Arial"/>
                <a:cs typeface="Arial"/>
              </a:rPr>
              <a:t>185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31F16C14-EFFE-4A58-845C-F9425B727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6086475"/>
            <a:ext cx="5619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70" b="0">
                <a:solidFill>
                  <a:srgbClr val="B83A4B"/>
                </a:solidFill>
                <a:latin typeface="Arial"/>
                <a:ea typeface="Arial"/>
                <a:cs typeface="Arial"/>
              </a:defRPr>
            </a:pPr>
            <a:r>
              <a:rPr sz="570" b="0">
                <a:solidFill>
                  <a:srgbClr val="B83A4B"/>
                </a:solidFill>
                <a:latin typeface="Arial"/>
                <a:ea typeface="Arial"/>
                <a:cs typeface="Arial"/>
              </a:rPr>
              <a:t>1,209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5E1C5E0F-39F9-4FFB-9FEF-AD8316C3F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6486525"/>
            <a:ext cx="64293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5C5668"/>
                </a:solidFill>
                <a:latin typeface="Arial"/>
                <a:ea typeface="Arial"/>
                <a:cs typeface="Arial"/>
              </a:defRPr>
            </a:pPr>
            <a:r>
              <a:rPr sz="630" b="0">
                <a:solidFill>
                  <a:srgbClr val="5C5668"/>
                </a:solidFill>
                <a:latin typeface="Arial"/>
                <a:ea typeface="Arial"/>
                <a:cs typeface="Arial"/>
              </a:rPr>
              <a:t>Native/kernel coverage from binary wheels is recorded as unavailable_on_this_run; the headline metric is selected-function Python line coverage.</a:t>
            </a:r>
          </a:p>
        </p:txBody>
      </p:sp>
      <p:pic>
        <p:nvPicPr>
          <p:cNvPr id="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889a97b73f479b"/>
          <a:stretch xmlns:a="http://schemas.openxmlformats.org/drawingml/2006/main"/>
        </p:blipFill>
        <p:spPr>
          <a:xfrm xmlns:a="http://schemas.openxmlformats.org/drawingml/2006/main">
            <a:off x="3766797" y="7162800"/>
            <a:ext cx="3324905" cy="1724025"/>
          </a:xfrm>
          <a:prstGeom xmlns:a="http://schemas.openxmlformats.org/drawingml/2006/main" prst="rect">
            <a:avLst/>
          </a:prstGeom>
        </p:spPr>
      </p:pic>
      <p:pic>
        <p:nvPicPr>
          <p:cNvPr id="8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4087a6792347a9"/>
          <a:stretch xmlns:a="http://schemas.openxmlformats.org/drawingml/2006/main"/>
        </p:blipFill>
        <p:spPr>
          <a:xfrm xmlns:a="http://schemas.openxmlformats.org/drawingml/2006/main">
            <a:off x="7291047" y="7162800"/>
            <a:ext cx="3324905" cy="1724025"/>
          </a:xfrm>
          <a:prstGeom xmlns:a="http://schemas.openxmlformats.org/drawingml/2006/main" prst="rect">
            <a:avLst/>
          </a:prstGeom>
        </p:spPr>
      </p:pic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084CF522-94CB-42B3-89CA-65DE1BBC7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9010650"/>
            <a:ext cx="6858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FE6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4498DAE2-8028-4B22-8926-F7CA2EF32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9010650"/>
            <a:ext cx="666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8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CFDD20C1-EB4B-4F66-8B9C-E9BF3B8CA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9105900"/>
            <a:ext cx="6591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A86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A86FF"/>
                </a:solidFill>
                <a:latin typeface="Arial"/>
                <a:ea typeface="Arial"/>
                <a:cs typeface="Arial"/>
              </a:rPr>
              <a:t>Analysis / Conclusion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3D016CB7-0330-477B-932C-B7C6EFA58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9305925"/>
            <a:ext cx="64293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7" b="0">
                <a:solidFill>
                  <a:srgbClr val="1D1A2F"/>
                </a:solidFill>
                <a:latin typeface="Arial"/>
                <a:ea typeface="Arial"/>
                <a:cs typeface="Arial"/>
              </a:defRPr>
            </a:pPr>
            <a:r>
              <a:rPr sz="607" b="0">
                <a:solidFill>
                  <a:srgbClr val="1D1A2F"/>
                </a:solidFill>
                <a:latin typeface="Arial"/>
                <a:ea typeface="Arial"/>
                <a:cs typeface="Arial"/>
              </a:rPr>
              <a:t>DeepFuzz is a complete, reproducible software-engineering pipeline. It reaches every base-valid API in JAX and PyTorch and 98.8652% in TensorFlow; reports combine selected-function coverage with execution, seed, generated-test, and triage evidence.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4EE274D7-E040-4464-AD4C-49924F1C0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4248150"/>
            <a:ext cx="3876675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FE6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27F90CAA-7E23-4558-B408-9E36CB262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4248150"/>
            <a:ext cx="66675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E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CA84DAF7-68F4-4A3E-AFB5-EA07D6586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4343400"/>
            <a:ext cx="36099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7E8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7E89"/>
                </a:solidFill>
                <a:latin typeface="Arial"/>
                <a:ea typeface="Arial"/>
                <a:cs typeface="Arial"/>
              </a:rPr>
              <a:t>Implementation Architecture</a:t>
            </a:r>
          </a:p>
        </p:txBody>
      </p:sp>
      <p:pic>
        <p:nvPicPr>
          <p:cNvPr id="9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cb009f9306488b"/>
          <a:stretch xmlns:a="http://schemas.openxmlformats.org/drawingml/2006/main"/>
        </p:blipFill>
        <p:spPr>
          <a:xfrm xmlns:a="http://schemas.openxmlformats.org/drawingml/2006/main">
            <a:off x="10977312" y="4591050"/>
            <a:ext cx="3534276" cy="1790700"/>
          </a:xfrm>
          <a:prstGeom xmlns:a="http://schemas.openxmlformats.org/drawingml/2006/main" prst="rect">
            <a:avLst/>
          </a:prstGeom>
        </p:spPr>
      </p:pic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61176B26-330C-45D0-BCCF-32F7E41C3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610350"/>
            <a:ext cx="38766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FE6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4DF65F2A-A836-42F8-8B02-AD862AD12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610350"/>
            <a:ext cx="666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24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DC5321C0-6757-477A-9A01-9F26D7C06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6705600"/>
            <a:ext cx="36099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124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1247A"/>
                </a:solidFill>
                <a:latin typeface="Arial"/>
                <a:ea typeface="Arial"/>
                <a:cs typeface="Arial"/>
              </a:rPr>
              <a:t>Demonstration Artefacts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556B5054-2F67-4B3B-8737-0F05B6012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943725"/>
            <a:ext cx="34861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82" b="0">
                <a:solidFill>
                  <a:srgbClr val="1D1A2F"/>
                </a:solidFill>
                <a:latin typeface="Arial"/>
                <a:ea typeface="Arial"/>
                <a:cs typeface="Arial"/>
              </a:defRPr>
            </a:pPr>
            <a:r>
              <a:rPr sz="682" b="0">
                <a:solidFill>
                  <a:srgbClr val="1D1A2F"/>
                </a:solidFill>
                <a:latin typeface="Arial"/>
                <a:ea typeface="Arial"/>
                <a:cs typeface="Arial"/>
              </a:rPr>
              <a:t>- Replay one generated pytest for jax.numpy.sin.</a:t>
            </a:r>
          </a:p>
          <a:p xmlns:a="http://schemas.openxmlformats.org/drawingml/2006/main">
            <a:pPr algn="l">
              <a:defRPr sz="682" b="0">
                <a:solidFill>
                  <a:srgbClr val="1D1A2F"/>
                </a:solidFill>
                <a:latin typeface="Arial"/>
                <a:ea typeface="Arial"/>
                <a:cs typeface="Arial"/>
              </a:defRPr>
            </a:pPr>
            <a:r>
              <a:rPr sz="682" b="0">
                <a:solidFill>
                  <a:srgbClr val="1D1A2F"/>
                </a:solidFill>
                <a:latin typeface="Arial"/>
                <a:ea typeface="Arial"/>
                <a:cs typeface="Arial"/>
              </a:rPr>
              <a:t>- Inspect per-API seed JSON and generated test file.</a:t>
            </a:r>
          </a:p>
          <a:p xmlns:a="http://schemas.openxmlformats.org/drawingml/2006/main">
            <a:pPr algn="l">
              <a:defRPr sz="682" b="0">
                <a:solidFill>
                  <a:srgbClr val="1D1A2F"/>
                </a:solidFill>
                <a:latin typeface="Arial"/>
                <a:ea typeface="Arial"/>
                <a:cs typeface="Arial"/>
              </a:defRPr>
            </a:pPr>
            <a:r>
              <a:rPr sz="682" b="0">
                <a:solidFill>
                  <a:srgbClr val="1D1A2F"/>
                </a:solidFill>
                <a:latin typeface="Arial"/>
                <a:ea typeface="Arial"/>
                <a:cs typeface="Arial"/>
              </a:rPr>
              <a:t>- Show Stage 4 coverage report and torch bug_report.csv.</a:t>
            </a:r>
          </a:p>
          <a:p xmlns:a="http://schemas.openxmlformats.org/drawingml/2006/main">
            <a:pPr algn="l">
              <a:defRPr sz="682" b="0">
                <a:solidFill>
                  <a:srgbClr val="1D1A2F"/>
                </a:solidFill>
                <a:latin typeface="Arial"/>
                <a:ea typeface="Arial"/>
                <a:cs typeface="Arial"/>
              </a:defRPr>
            </a:pPr>
            <a:r>
              <a:rPr sz="682" b="0">
                <a:solidFill>
                  <a:srgbClr val="1D1A2F"/>
                </a:solidFill>
                <a:latin typeface="Arial"/>
                <a:ea typeface="Arial"/>
                <a:cs typeface="Arial"/>
              </a:rPr>
              <a:t>- Explain one path: documentation -&gt; spec -&gt; seed -&gt; fuzz run -&gt; evidence.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F897C90D-5D3C-4B00-AFA2-A3BA8C286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8077200"/>
            <a:ext cx="387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FE6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83DBCE45-A9C1-49E3-9A1E-2B21134C9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807720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3A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BE3E42B1-3353-4B5B-B8F2-E20EDD843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8172450"/>
            <a:ext cx="36099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3A4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B83A4B"/>
                </a:solidFill>
                <a:latin typeface="Arial"/>
                <a:ea typeface="Arial"/>
                <a:cs typeface="Arial"/>
              </a:rPr>
              <a:t>Triage And Oracles</a:t>
            </a:r>
          </a:p>
        </p:txBody>
      </p:sp>
      <p:pic>
        <p:nvPicPr>
          <p:cNvPr id="10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aa06756d5c4833"/>
          <a:stretch xmlns:a="http://schemas.openxmlformats.org/drawingml/2006/main"/>
        </p:blipFill>
        <p:spPr>
          <a:xfrm xmlns:a="http://schemas.openxmlformats.org/drawingml/2006/main">
            <a:off x="11936186" y="8439150"/>
            <a:ext cx="1616529" cy="838200"/>
          </a:xfrm>
          <a:prstGeom xmlns:a="http://schemas.openxmlformats.org/drawingml/2006/main" prst="rect">
            <a:avLst/>
          </a:prstGeom>
        </p:spPr>
      </p:pic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EA8AAF9C-BC87-4090-B12C-BD9C8A334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9315450"/>
            <a:ext cx="34290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10" b="0">
                <a:solidFill>
                  <a:srgbClr val="5C5668"/>
                </a:solidFill>
                <a:latin typeface="Arial"/>
                <a:ea typeface="Arial"/>
                <a:cs typeface="Arial"/>
              </a:defRPr>
            </a:pPr>
            <a:r>
              <a:rPr sz="510" b="0">
                <a:solidFill>
                  <a:srgbClr val="5C5668"/>
                </a:solidFill>
                <a:latin typeface="Arial"/>
                <a:ea typeface="Arial"/>
                <a:cs typeface="Arial"/>
              </a:rPr>
              <a:t>Device oracle and edge numeric mutations were enabled; candidate records require manual confirmation before upstream reporting.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00E2E8C7-3D76-499A-BFEB-6FAE5679E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677400"/>
            <a:ext cx="15119318" cy="10144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24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7EF35A7E-A2A4-4EB4-807B-E49476318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9991725"/>
            <a:ext cx="123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uq.edu.au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98DB15BF-0816-4A04-9412-F105FC4F7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0144125"/>
            <a:ext cx="4524375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67A1B620-ADC9-4729-BDF9-DA7C5EB6D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0258425"/>
            <a:ext cx="419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School of Electrical Engineering and Computer Science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52ACD211-DB38-427A-B567-EC187A15A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9810750"/>
            <a:ext cx="457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Acknowledgements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19A419CD-3F03-432D-A48C-A15B211CA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0039350"/>
            <a:ext cx="5476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4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4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UQ EECS thesis guidance and assessment rubric; public JAX, TensorFlow, and PyTorch documentation; open-source Python testing and coverage tooling.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3638903B-E0AC-45E1-9D35-224F1E948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9534525"/>
            <a:ext cx="38290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488" b="0">
                <a:solidFill>
                  <a:srgbClr val="5C5668"/>
                </a:solidFill>
                <a:latin typeface="Arial"/>
                <a:ea typeface="Arial"/>
                <a:cs typeface="Arial"/>
              </a:defRPr>
            </a:pPr>
            <a:r>
              <a:rPr sz="488" b="0">
                <a:solidFill>
                  <a:srgbClr val="5C5668"/>
                </a:solidFill>
                <a:latin typeface="Arial"/>
                <a:ea typeface="Arial"/>
                <a:cs typeface="Arial"/>
              </a:rPr>
              <a:t>References: project README, final_report.json, coverage_report.json, bug_report.csv, and run_manifest.json from committed *-thesis-all runs.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194B5C21-4DB9-402F-9E7C-FCD0D5328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7375" y="9696450"/>
            <a:ext cx="13811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34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CRICOS 00025B • TEQSA PRV12080</a:t>
            </a:r>
          </a:p>
        </p:txBody>
      </p:sp>
      <p:pic>
        <p:nvPicPr>
          <p:cNvPr id="1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ee4650d2fd4b10"/>
          <a:stretch xmlns:a="http://schemas.openxmlformats.org/drawingml/2006/main"/>
        </p:blipFill>
        <p:spPr>
          <a:xfrm xmlns:a="http://schemas.openxmlformats.org/drawingml/2006/main">
            <a:off x="13084671" y="9810750"/>
            <a:ext cx="1519833" cy="6572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88753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2026-05-13T20:15:00.0450000Z</dcterms:created>
  <dcterms:modified xsi:type="dcterms:W3CDTF">2026-05-13T20:15:00.0450000Z</dcterms:modified>
</coreProperties>
</file>